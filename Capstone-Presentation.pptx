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69" r:id="rId20"/>
    <p:sldId id="270" r:id="rId21"/>
    <p:sldId id="271" r:id="rId22"/>
    <p:sldId id="272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1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271" y="-20265"/>
            <a:ext cx="9200271" cy="55638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89DC28-39EB-58D9-083A-19EE8FF67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7804" y="-87027"/>
            <a:ext cx="9256541" cy="5656057"/>
          </a:xfrm>
          <a:prstGeom prst="rect">
            <a:avLst/>
          </a:prstGeom>
          <a:pattFill prst="pct30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75000"/>
              </a:schemeClr>
            </a:solidFill>
          </a:ln>
          <a:effectLst>
            <a:glow rad="63500">
              <a:schemeClr val="tx2">
                <a:alpha val="40000"/>
              </a:schemeClr>
            </a:glow>
            <a:outerShdw blurRad="635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 0"/>
          <p:cNvSpPr/>
          <p:nvPr/>
        </p:nvSpPr>
        <p:spPr>
          <a:xfrm>
            <a:off x="372354" y="335712"/>
            <a:ext cx="8286750" cy="8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100" b="1" dirty="0">
                <a:solidFill>
                  <a:schemeClr val="accent1">
                    <a:lumMod val="50000"/>
                  </a:schemeClr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LOAN PORTFOLIO PERFORMANCE AND CREDIT RISK ANALYSIS</a:t>
            </a:r>
            <a:endParaRPr lang="en-US" sz="31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2"/>
          <p:cNvSpPr/>
          <p:nvPr/>
        </p:nvSpPr>
        <p:spPr>
          <a:xfrm>
            <a:off x="372354" y="1868091"/>
            <a:ext cx="8286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PRESENTED BY: OLUNUMELU GRACE </a:t>
            </a:r>
            <a:endParaRPr lang="en-US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AD7E3-4E70-1BE1-B85D-86C82723C2F8}"/>
              </a:ext>
            </a:extLst>
          </p:cNvPr>
          <p:cNvSpPr txBox="1"/>
          <p:nvPr/>
        </p:nvSpPr>
        <p:spPr>
          <a:xfrm>
            <a:off x="287688" y="2715601"/>
            <a:ext cx="547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TECHCRUSH DATA ANALYTICS BOOTCAMP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701956-679F-8A04-5D11-F8DC4BA9B748}"/>
              </a:ext>
            </a:extLst>
          </p:cNvPr>
          <p:cNvSpPr txBox="1"/>
          <p:nvPr/>
        </p:nvSpPr>
        <p:spPr>
          <a:xfrm>
            <a:off x="287688" y="3644304"/>
            <a:ext cx="345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COHORT 7 CAPSTONE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93A2E-ADE7-EF17-7E76-EBB9495D07FF}"/>
              </a:ext>
            </a:extLst>
          </p:cNvPr>
          <p:cNvSpPr txBox="1"/>
          <p:nvPr/>
        </p:nvSpPr>
        <p:spPr>
          <a:xfrm>
            <a:off x="372354" y="4409300"/>
            <a:ext cx="5176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SECTOR: INSURANCE, BANKING AND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9ECFA0F-C855-7D99-DC1F-434863EB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2429"/>
            <a:ext cx="9144000" cy="56560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1" y="285750"/>
            <a:ext cx="1987919" cy="472357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8930" y="408811"/>
            <a:ext cx="2607044" cy="827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Executive Summary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E5E2D-3EEC-FA03-98C0-D902EB9BE722}"/>
              </a:ext>
            </a:extLst>
          </p:cNvPr>
          <p:cNvSpPr txBox="1"/>
          <p:nvPr/>
        </p:nvSpPr>
        <p:spPr>
          <a:xfrm>
            <a:off x="3107267" y="407529"/>
            <a:ext cx="5818684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Project Overview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This project analyzed a financial loan dataset obtained from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Kaggle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covering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loan records for 2021.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 Evaluated overall loan portfolio performance and explored customer characteristics, loan attributes, geographic credit risk, income verification effectiveness, and estimated financial losses resulting from defaults</a:t>
            </a:r>
          </a:p>
          <a:p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Methodology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Cleaned and  transformed data using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Excel, SQL, Power Query, and DAX.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Built an interactive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Power BI dashboard 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 analysis.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Business Impact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findings provide data-driven recommendations that can support improved lending decisions,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stronger credit risk management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and enhanced portfolio profitability.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B6115-EDD6-C60C-CAA4-AFB3BF30F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092" y="533310"/>
            <a:ext cx="115834" cy="975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620D46-71BE-40C2-F04B-C7612E552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704" y="2221258"/>
            <a:ext cx="115834" cy="97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6BA847-42D7-DF0C-0BF8-F368EB2E7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205" y="3276499"/>
            <a:ext cx="115834" cy="97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526E6544-622A-653E-1BED-381FD8C05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12429"/>
            <a:ext cx="9144000" cy="5656057"/>
          </a:xfrm>
          <a:prstGeom prst="rect">
            <a:avLst/>
          </a:prstGeom>
        </p:spPr>
      </p:pic>
      <p:pic>
        <p:nvPicPr>
          <p:cNvPr id="2" name="Image 0" descr="preencoded.png" hidden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598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285750"/>
            <a:ext cx="2500313" cy="524931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2214563" cy="1359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lang="en-US" sz="1900" b="1" dirty="0">
                <a:solidFill>
                  <a:srgbClr val="F8FAFC"/>
                </a:solidFill>
                <a:latin typeface="Roboto Slab SemiBold"/>
                <a:ea typeface="Roboto Slab SemiBold"/>
                <a:cs typeface="Roboto Slab SemiBold"/>
              </a:rPr>
              <a:t>INTRODUCTION:</a:t>
            </a:r>
          </a:p>
          <a:p>
            <a:pPr algn="ctr">
              <a:lnSpc>
                <a:spcPct val="96000"/>
              </a:lnSpc>
            </a:pPr>
            <a:endParaRPr lang="en-US" sz="1900" b="1" dirty="0">
              <a:solidFill>
                <a:srgbClr val="F8FAFC"/>
              </a:solidFill>
              <a:latin typeface="Roboto Slab SemiBold"/>
              <a:ea typeface="Roboto Slab SemiBold"/>
              <a:cs typeface="Roboto Slab SemiBold"/>
            </a:endParaRPr>
          </a:p>
          <a:p>
            <a:pPr algn="ctr">
              <a:lnSpc>
                <a:spcPct val="96000"/>
              </a:lnSpc>
            </a:pPr>
            <a:r>
              <a:rPr lang="en-US" b="1" dirty="0">
                <a:solidFill>
                  <a:srgbClr val="F8FAFC"/>
                </a:solidFill>
                <a:latin typeface="Roboto Slab SemiBold"/>
                <a:ea typeface="Roboto Slab SemiBold"/>
                <a:cs typeface="Roboto Slab SemiBold"/>
              </a:rPr>
              <a:t> Project Objectives, Business questions, KPIs/key metrics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71813" y="285750"/>
            <a:ext cx="5786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Project Context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071813" y="621506"/>
            <a:ext cx="5786438" cy="42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34155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This project analyzes a 2021 financial loan dataset from Kaggle to evaluate portfolio performance, identify key default drivers, and support data-driven lending decisions</a:t>
            </a:r>
            <a:r>
              <a:rPr lang="en-US" sz="1200" dirty="0">
                <a:solidFill>
                  <a:srgbClr val="334155"/>
                </a:solidFill>
                <a:latin typeface="Open Sans Light"/>
                <a:ea typeface="Open Sans Light"/>
                <a:cs typeface="Open Sans Light"/>
              </a:rPr>
              <a:t>.</a:t>
            </a:r>
          </a:p>
        </p:txBody>
      </p:sp>
      <p:sp>
        <p:nvSpPr>
          <p:cNvPr id="7" name="Text 4"/>
          <p:cNvSpPr/>
          <p:nvPr/>
        </p:nvSpPr>
        <p:spPr>
          <a:xfrm>
            <a:off x="3071813" y="1203945"/>
            <a:ext cx="5786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11CC21-152D-4BE5-9759-1B2350197190}"/>
              </a:ext>
            </a:extLst>
          </p:cNvPr>
          <p:cNvSpPr txBox="1"/>
          <p:nvPr/>
        </p:nvSpPr>
        <p:spPr>
          <a:xfrm>
            <a:off x="3386666" y="1485459"/>
            <a:ext cx="4817533" cy="36009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Evaluate the overall performance of the loan portfolio.</a:t>
            </a:r>
          </a:p>
          <a:p>
            <a:endParaRPr lang="en-US" sz="1400" dirty="0">
              <a:solidFill>
                <a:schemeClr val="tx2">
                  <a:lumMod val="7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Identify customer characteristics associated with higher completed loan default rates.</a:t>
            </a:r>
          </a:p>
          <a:p>
            <a:endParaRPr lang="en-US" sz="1400" dirty="0">
              <a:solidFill>
                <a:schemeClr val="tx2">
                  <a:lumMod val="7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Identify loan characteristics associated with increased default risk.</a:t>
            </a:r>
          </a:p>
          <a:p>
            <a:endParaRPr lang="en-US" sz="1400" dirty="0">
              <a:solidFill>
                <a:schemeClr val="tx2">
                  <a:lumMod val="7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Assess geographic variations in completed loan default rates.</a:t>
            </a:r>
          </a:p>
          <a:p>
            <a:endParaRPr lang="en-US" sz="1400" dirty="0">
              <a:solidFill>
                <a:schemeClr val="tx2">
                  <a:lumMod val="7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Evaluate the effectiveness of income verification in reducing loan default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tx2">
                  <a:lumMod val="7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 a profile of high-risk borrowers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5BDA81-DE81-CF7E-1A4B-54AAD76AA0E4}"/>
              </a:ext>
            </a:extLst>
          </p:cNvPr>
          <p:cNvSpPr/>
          <p:nvPr/>
        </p:nvSpPr>
        <p:spPr>
          <a:xfrm>
            <a:off x="3095096" y="3286612"/>
            <a:ext cx="101600" cy="863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DC8732-6DC5-4C48-906F-6A2B0918C024}"/>
              </a:ext>
            </a:extLst>
          </p:cNvPr>
          <p:cNvSpPr/>
          <p:nvPr/>
        </p:nvSpPr>
        <p:spPr>
          <a:xfrm>
            <a:off x="3095096" y="1606043"/>
            <a:ext cx="101600" cy="863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56A46C-1578-D4C2-4FB5-A5C743CF8442}"/>
              </a:ext>
            </a:extLst>
          </p:cNvPr>
          <p:cNvSpPr/>
          <p:nvPr/>
        </p:nvSpPr>
        <p:spPr>
          <a:xfrm>
            <a:off x="3095096" y="2672426"/>
            <a:ext cx="101600" cy="863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E032F0-32E8-F0BD-0223-B469B2CFCA9C}"/>
              </a:ext>
            </a:extLst>
          </p:cNvPr>
          <p:cNvSpPr/>
          <p:nvPr/>
        </p:nvSpPr>
        <p:spPr>
          <a:xfrm>
            <a:off x="3095096" y="2015067"/>
            <a:ext cx="101600" cy="863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62BC87-B511-BC53-1743-584200B48621}"/>
              </a:ext>
            </a:extLst>
          </p:cNvPr>
          <p:cNvSpPr/>
          <p:nvPr/>
        </p:nvSpPr>
        <p:spPr>
          <a:xfrm>
            <a:off x="3095096" y="3978741"/>
            <a:ext cx="101600" cy="863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467DB6-9A15-844B-541F-D8E8105FA900}"/>
              </a:ext>
            </a:extLst>
          </p:cNvPr>
          <p:cNvSpPr/>
          <p:nvPr/>
        </p:nvSpPr>
        <p:spPr>
          <a:xfrm>
            <a:off x="3095096" y="4588087"/>
            <a:ext cx="101600" cy="8634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7689" y="20411"/>
            <a:ext cx="9152066" cy="10404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17691" y="244929"/>
            <a:ext cx="9108522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Addressing Critical Business Questions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57225" y="1489472"/>
            <a:ext cx="3771900" cy="602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b="1" dirty="0">
                <a:solidFill>
                  <a:schemeClr val="bg2">
                    <a:lumMod val="49000"/>
                  </a:schemeClr>
                </a:solidFill>
                <a:latin typeface="Open Sans Light"/>
                <a:ea typeface="Open Sans Light"/>
                <a:cs typeface="Open Sans Light"/>
              </a:rPr>
              <a:t>What is the overall performance of the bank's loan portfolio?</a:t>
            </a:r>
          </a:p>
        </p:txBody>
      </p:sp>
      <p:sp>
        <p:nvSpPr>
          <p:cNvPr id="6" name="Text 3"/>
          <p:cNvSpPr/>
          <p:nvPr/>
        </p:nvSpPr>
        <p:spPr>
          <a:xfrm>
            <a:off x="4943475" y="1489472"/>
            <a:ext cx="3771900" cy="81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2">
                    <a:lumMod val="49000"/>
                  </a:schemeClr>
                </a:solidFill>
                <a:latin typeface="Open Sans Light"/>
                <a:ea typeface="Open Sans Light"/>
                <a:cs typeface="Open Sans Light"/>
              </a:rPr>
              <a:t>Which customer characteristics are associated with higher completed loan default rates?</a:t>
            </a:r>
          </a:p>
        </p:txBody>
      </p:sp>
      <p:sp>
        <p:nvSpPr>
          <p:cNvPr id="7" name="Text 4"/>
          <p:cNvSpPr/>
          <p:nvPr/>
        </p:nvSpPr>
        <p:spPr>
          <a:xfrm>
            <a:off x="657225" y="2880829"/>
            <a:ext cx="3771900" cy="81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2">
                    <a:lumMod val="49000"/>
                  </a:schemeClr>
                </a:solidFill>
                <a:latin typeface="Open Sans Light"/>
                <a:ea typeface="Open Sans Light"/>
                <a:cs typeface="Open Sans Light"/>
              </a:rPr>
              <a:t>Which loan characteristics are associated with higher completed loan default rates?</a:t>
            </a:r>
          </a:p>
        </p:txBody>
      </p:sp>
      <p:sp>
        <p:nvSpPr>
          <p:cNvPr id="8" name="Text 5"/>
          <p:cNvSpPr/>
          <p:nvPr/>
        </p:nvSpPr>
        <p:spPr>
          <a:xfrm>
            <a:off x="4943475" y="2880829"/>
            <a:ext cx="4058612" cy="259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2">
                    <a:lumMod val="49000"/>
                  </a:schemeClr>
                </a:solidFill>
                <a:latin typeface="Open Sans Light"/>
                <a:ea typeface="Open Sans Light"/>
                <a:cs typeface="Open Sans Light"/>
              </a:rPr>
              <a:t>Which states present the highest credit risk?</a:t>
            </a:r>
          </a:p>
        </p:txBody>
      </p:sp>
      <p:sp>
        <p:nvSpPr>
          <p:cNvPr id="9" name="Text 6"/>
          <p:cNvSpPr/>
          <p:nvPr/>
        </p:nvSpPr>
        <p:spPr>
          <a:xfrm>
            <a:off x="657225" y="4012164"/>
            <a:ext cx="3771900" cy="53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2">
                    <a:lumMod val="49000"/>
                  </a:schemeClr>
                </a:solidFill>
                <a:latin typeface="Open Sans Light"/>
                <a:ea typeface="Open Sans Light"/>
                <a:cs typeface="Open Sans Light"/>
              </a:rPr>
              <a:t>Does income verification reduce the likelihood of loan default?</a:t>
            </a:r>
            <a:endParaRPr lang="en-US" sz="1600" b="1" dirty="0">
              <a:solidFill>
                <a:schemeClr val="bg2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43475" y="4012164"/>
            <a:ext cx="3771900" cy="53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bg2">
                    <a:lumMod val="49000"/>
                  </a:schemeClr>
                </a:solidFill>
                <a:latin typeface="Open Sans Light"/>
                <a:ea typeface="Open Sans Light"/>
                <a:cs typeface="Open Sans Light"/>
              </a:rPr>
              <a:t>What characteristics define a high-risk borrower?</a:t>
            </a:r>
            <a:endParaRPr lang="en-US" sz="1600" b="1" dirty="0">
              <a:solidFill>
                <a:schemeClr val="bg2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663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65" y="-2721"/>
            <a:ext cx="9130391" cy="11522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4084" y="123825"/>
            <a:ext cx="8871854" cy="38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Key Performance Indicators (KPIs) for Loan Portfolio Analysis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85750" y="1680177"/>
            <a:ext cx="4179094" cy="178593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64344" y="1858770"/>
            <a:ext cx="1160134" cy="28217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Volume Metrics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7219" y="2283823"/>
            <a:ext cx="727763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Open Sans Light"/>
                <a:ea typeface="Open Sans Light"/>
                <a:cs typeface="Open Sans Light"/>
              </a:rPr>
              <a:t>Total Loans</a:t>
            </a:r>
            <a:endParaRPr lang="en-US" sz="1100" dirty="0">
              <a:latin typeface="Open Sans Light"/>
              <a:ea typeface="Open Sans Light"/>
              <a:cs typeface="Open Sans Light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7219" y="2530283"/>
            <a:ext cx="120545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Total Loan Amount</a:t>
            </a:r>
            <a:endParaRPr lang="en-US" sz="1100" dirty="0">
              <a:solidFill>
                <a:srgbClr val="000000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79156" y="1680177"/>
            <a:ext cx="4179094" cy="178593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857750" y="1858770"/>
            <a:ext cx="1442535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Repayment Metrics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00625" y="2283823"/>
            <a:ext cx="131846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Total Amount Repaid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00625" y="2530283"/>
            <a:ext cx="1008289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Open Sans Light"/>
                <a:ea typeface="Open Sans Light"/>
                <a:cs typeface="Open Sans Light"/>
              </a:rPr>
              <a:t>Fully Paid Loans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85750" y="3680427"/>
            <a:ext cx="4179094" cy="178593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64344" y="3859020"/>
            <a:ext cx="937952" cy="28217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Risk Metrics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7219" y="4284073"/>
            <a:ext cx="121259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Charged-Off Loans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7219" y="4530533"/>
            <a:ext cx="90541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Current Loans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7219" y="4776992"/>
            <a:ext cx="188237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Completed Loan Default Rate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79156" y="3680427"/>
            <a:ext cx="4179094" cy="178593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857750" y="3859020"/>
            <a:ext cx="1252556" cy="28217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Financial Impact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00625" y="4284073"/>
            <a:ext cx="1588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Open Sans Light"/>
                <a:ea typeface="Open Sans Light"/>
                <a:cs typeface="Open Sans Light"/>
              </a:rPr>
              <a:t>Estimated Financial Loss</a:t>
            </a:r>
            <a:endParaRPr lang="en-US" sz="1100">
              <a:latin typeface="Open Sans Light"/>
              <a:ea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4577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302927"/>
            <a:ext cx="8849320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Dataset Overview: Foundation of Our Analysis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85750" y="1143000"/>
            <a:ext cx="2714625" cy="35718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344" y="1321594"/>
            <a:ext cx="2357438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Source &amp; Scope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7219" y="1746647"/>
            <a:ext cx="2214563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</a:rPr>
              <a:t>Primary Source:</a:t>
            </a:r>
            <a:r>
              <a:rPr lang="en-US" sz="950" dirty="0">
                <a:solidFill>
                  <a:srgbClr val="334155"/>
                </a:solidFill>
                <a:latin typeface="Open Sans Light"/>
                <a:ea typeface="Open Sans Light"/>
                <a:cs typeface="Open Sans Light"/>
              </a:rPr>
              <a:t> </a:t>
            </a:r>
            <a:r>
              <a:rPr lang="en-US" sz="1000" dirty="0">
                <a:solidFill>
                  <a:schemeClr val="bg2">
                    <a:lumMod val="49000"/>
                  </a:schemeClr>
                </a:solidFill>
                <a:ea typeface="Open Sans Light"/>
                <a:cs typeface="Open Sans Light"/>
              </a:rPr>
              <a:t>Kaggle Financial Loan Dataset published by Tushar Nandanwar covering customers across all 50 US states.</a:t>
            </a:r>
            <a:endParaRPr lang="en-US" sz="1000" dirty="0">
              <a:solidFill>
                <a:schemeClr val="bg2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7219" y="2213781"/>
            <a:ext cx="1721625" cy="1631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Fiscal Period:</a:t>
            </a:r>
            <a:r>
              <a:rPr lang="en-US" sz="10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2021 Financial Year</a:t>
            </a:r>
            <a:endParaRPr lang="en-US" sz="10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7219" y="2500926"/>
            <a:ext cx="2214563" cy="50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/>
                <a:ea typeface="Open Sans SemiBold"/>
                <a:cs typeface="Open Sans SemiBold"/>
              </a:rPr>
              <a:t>Context:</a:t>
            </a:r>
            <a:r>
              <a:rPr lang="en-US" sz="1000" b="1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 dirty="0">
                <a:solidFill>
                  <a:schemeClr val="bg2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Comprehensive loan records covering origination to performance status.</a:t>
            </a:r>
          </a:p>
        </p:txBody>
      </p:sp>
      <p:sp>
        <p:nvSpPr>
          <p:cNvPr id="10" name="Shape 7"/>
          <p:cNvSpPr/>
          <p:nvPr/>
        </p:nvSpPr>
        <p:spPr>
          <a:xfrm>
            <a:off x="3214688" y="1143000"/>
            <a:ext cx="2714625" cy="35718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393281" y="1321594"/>
            <a:ext cx="2357438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Dataset Scale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36156" y="1746647"/>
            <a:ext cx="221456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Total Records: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38,576 unique loan entries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536156" y="2213781"/>
            <a:ext cx="1737047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Variables: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24 original features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36156" y="2500926"/>
            <a:ext cx="2214563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Data Formats: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Mixed types including Text, Whole/Decimal numbers, and Date fields.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43625" y="1143000"/>
            <a:ext cx="2714625" cy="357187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322219" y="1321594"/>
            <a:ext cx="2357438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Key Categories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65094" y="1746647"/>
            <a:ext cx="2214563" cy="31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Customer: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Annual Income, Employment length, Home Ownership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65094" y="2213781"/>
            <a:ext cx="221456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Loan: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Amount, Rate, DTI, Grade, Purpose, Term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65094" y="2680915"/>
            <a:ext cx="221456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Performance: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Status, Total Repayments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65094" y="3148050"/>
            <a:ext cx="212961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Geographic:</a:t>
            </a: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Borrower State location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B5B5B13-64A7-35C8-C58B-20C80DFF8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27" y="3243932"/>
            <a:ext cx="4212509" cy="1470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1320" cy="86796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8931" y="221722"/>
            <a:ext cx="91323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Data Preparation: Ensuring Quality &amp; Readiness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5750" y="1153716"/>
            <a:ext cx="2714625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ETL Process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1578769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Structured Extract, Transform, Load (ETL) workflow implemented via Power Query.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28625" y="2024472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Standardized inconsistent date formats across the 2021 financial year.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14688" y="1153716"/>
            <a:ext cx="2714625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57563" y="1578769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Resolved 1,433 missing values in Employment Title fields.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57563" y="2024472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Expanded state abbreviations to full names for geographic clarity.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57563" y="2470175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Corrected data types for whole numbers, decimals, and percentages.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43625" y="1153716"/>
            <a:ext cx="2714625" cy="2821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Analytical Variables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86500" y="1578769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Created Annual Income and DTI Bands for risk segmentation.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86500" y="2024472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Segmented Loan Amounts and Interest Rates into logical bands.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86500" y="2470175"/>
            <a:ext cx="257175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Grouped Employment Length to identify stability trends.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F172A">
              <a:alpha val="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0" y="4707731"/>
            <a:ext cx="9144000" cy="481927"/>
          </a:xfrm>
          <a:prstGeom prst="rect">
            <a:avLst/>
          </a:prstGeom>
          <a:noFill/>
          <a:ln/>
        </p:spPr>
        <p:txBody>
          <a:bodyPr wrap="square" lIns="340233" tIns="170053" rIns="340233" bIns="170053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Analytical stack : Power Query | Power BI | SQL | DAX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71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930"/>
            <a:ext cx="9146121" cy="8590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55670"/>
            <a:ext cx="847639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Data Analysis &amp; Key Findings: Unveiling Portfolio Dynamics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4344" y="1082278"/>
            <a:ext cx="3964781" cy="35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 all Health: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The majority of loans were successfully repaid, indicating a generally healthy loan portfolio.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64344" y="1625203"/>
            <a:ext cx="3964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 Correlates: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Borrowers with lower annual income and higher debt-to-income ratios exhibited higher completed loan default rates.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64344" y="2368153"/>
            <a:ext cx="3964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Disparities: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Significant differences in completed loan default rates were observed across states, although loan volume varied considerably.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893469" y="1082278"/>
            <a:ext cx="3964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 Risk Factors: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Lower credit grades, higher interest rates, larger loan amounts, and longer loan terms were associated with increased default risk.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893469" y="1825228"/>
            <a:ext cx="3964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Purpose-Specific Risk: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Certain loan purposes, particularly Small Business loans, recorded relatively higher completed default rates.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893469" y="2568178"/>
            <a:ext cx="3964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 Nuance: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Income verification alone did not eliminate default risk, suggesting that multiple borrower and loan characteristics collectively influence loan performance.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93469" y="3311128"/>
            <a:ext cx="396478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Insight: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These findings support more informed lending and credit risk management decisions through data-driven profiling.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9C0E89C-578E-E5C1-46C8-685FB5B62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892" y="-1009242"/>
            <a:ext cx="9144000" cy="56560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8B720D-53BB-6471-CB6B-D4F3C7D83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33" y="366866"/>
            <a:ext cx="7447934" cy="44097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55647A-0AB5-53EC-9F5F-7062F774CB11}"/>
              </a:ext>
            </a:extLst>
          </p:cNvPr>
          <p:cNvSpPr txBox="1"/>
          <p:nvPr/>
        </p:nvSpPr>
        <p:spPr>
          <a:xfrm>
            <a:off x="1935480" y="4912667"/>
            <a:ext cx="5940159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Fig 1: Showing executive overview of the bank loan portfolio performance and KPIs</a:t>
            </a:r>
          </a:p>
        </p:txBody>
      </p:sp>
    </p:spTree>
    <p:extLst>
      <p:ext uri="{BB962C8B-B14F-4D97-AF65-F5344CB8AC3E}">
        <p14:creationId xmlns:p14="http://schemas.microsoft.com/office/powerpoint/2010/main" val="447072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34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4577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214313"/>
            <a:ext cx="8617147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Borrower Characteristics: Impact on Default Rates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2938" y="1474403"/>
            <a:ext cx="3786188" cy="9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Income &amp; DTI Correlation: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Borrowers with low annual income and very high debt-to-income ratios consistently show elevated completed loan default rates.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2938" y="2717416"/>
            <a:ext cx="37861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Predictive Capacity: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Financial stability and current debt burden are the most critical predictors of a borrower's long-term repayment capacity.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2938" y="3960428"/>
            <a:ext cx="37861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Risk Segmentation: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Data suggests that high-risk segments can be proactively identified by monitoring shifts in these core financial health indicators.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03E8103-4695-9262-66F8-457DFF9A4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429"/>
            <a:ext cx="9144000" cy="565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C379AA-5C5D-BB22-BFA9-5058FBA59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29" y="235974"/>
            <a:ext cx="7883013" cy="45867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35F35-555D-E5F8-CBB7-EA25C7B0C581}"/>
              </a:ext>
            </a:extLst>
          </p:cNvPr>
          <p:cNvSpPr txBox="1"/>
          <p:nvPr/>
        </p:nvSpPr>
        <p:spPr>
          <a:xfrm>
            <a:off x="2249129" y="4940293"/>
            <a:ext cx="5073445" cy="49244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Fig 2: Showing customer risk analysis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26253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9993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4577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303610"/>
            <a:ext cx="8849320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Loan Characteristics: Identifying Inherent Risk Factors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331528"/>
            <a:ext cx="3929063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Structural Risk Drivers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2931" y="1770869"/>
            <a:ext cx="3764756" cy="56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Credit Grade &amp; Interest Rate: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Grade G/F and very high interest rates are directly linked to increased default risk, reflecting origination-time risk assessment.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2931" y="2556681"/>
            <a:ext cx="3764756" cy="56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 Amount: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very Large loan amounts correlate with higher default rates, as they represent a more significant financial burden on the borrower.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8625" y="5292737"/>
            <a:ext cx="3929063" cy="30251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endParaRPr lang="en-US" sz="850" i="1" dirty="0">
              <a:solidFill>
                <a:srgbClr val="0F172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86313" y="1331528"/>
            <a:ext cx="3929063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Terms &amp; Purpose Impact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50619" y="1770869"/>
            <a:ext cx="3764756" cy="37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 Term: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Longer repayment periods of 60months amplify risk exposure to default compared to that of 30months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50619" y="2342369"/>
            <a:ext cx="3764756" cy="37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Loan Purpose:</a:t>
            </a:r>
            <a:r>
              <a:rPr lang="en-US" sz="10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Small Business loans exhibit relatively higher completed default rates compared to other purposes.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9B1954F-CC14-FC6F-E125-6F795FBD3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429"/>
            <a:ext cx="9144000" cy="565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A245ED-D495-76C3-328C-1355D262C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19" y="145641"/>
            <a:ext cx="7669162" cy="4350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557A98-6E6C-2B9F-6E66-18F45D2E1C29}"/>
              </a:ext>
            </a:extLst>
          </p:cNvPr>
          <p:cNvSpPr txBox="1"/>
          <p:nvPr/>
        </p:nvSpPr>
        <p:spPr>
          <a:xfrm>
            <a:off x="2138516" y="4934684"/>
            <a:ext cx="4630994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Fig 4: Showing loan risk analysis</a:t>
            </a:r>
          </a:p>
        </p:txBody>
      </p:sp>
    </p:spTree>
    <p:extLst>
      <p:ext uri="{BB962C8B-B14F-4D97-AF65-F5344CB8AC3E}">
        <p14:creationId xmlns:p14="http://schemas.microsoft.com/office/powerpoint/2010/main" val="2332074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" y="8931"/>
            <a:ext cx="9147961" cy="85903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428625"/>
            <a:ext cx="5209970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AFC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Geographic Credit Risk: State-Level Variations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0063" y="1153716"/>
            <a:ext cx="3771900" cy="9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Disparities: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Significant differences in completed loan default rates are observed across various states with south Dakota having the highest default on the top ten ranking.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0063" y="2139553"/>
            <a:ext cx="37719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 vs. Rate: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It is critical to analyze default rates in conjunction with loan volumes to avoid skewed risk perceptions in low-volume regions.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0063" y="3125391"/>
            <a:ext cx="3771900" cy="676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Economic Drivers: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Variations may likely stem from local economic conditions, employment trends, and regional demographic profiles.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BF16556-674E-24CF-09B3-5A5DBAC5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429"/>
            <a:ext cx="9144000" cy="565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A5B41F-B517-ED71-78BF-BD93D1E09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61" y="132736"/>
            <a:ext cx="7750277" cy="44097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2A852E-9CC9-C9FD-EF82-436BD732E327}"/>
              </a:ext>
            </a:extLst>
          </p:cNvPr>
          <p:cNvSpPr txBox="1"/>
          <p:nvPr/>
        </p:nvSpPr>
        <p:spPr>
          <a:xfrm>
            <a:off x="2131142" y="4733765"/>
            <a:ext cx="4630994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Fig 4 : Showing the Geographic risk analysis</a:t>
            </a:r>
          </a:p>
        </p:txBody>
      </p:sp>
    </p:spTree>
    <p:extLst>
      <p:ext uri="{BB962C8B-B14F-4D97-AF65-F5344CB8AC3E}">
        <p14:creationId xmlns:p14="http://schemas.microsoft.com/office/powerpoint/2010/main" val="879031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35070" cy="104577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410765" y="214313"/>
            <a:ext cx="8724305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Roboto Slab SemiBold"/>
                <a:ea typeface="Roboto Slab SemiBold"/>
                <a:cs typeface="Roboto Slab SemiBold"/>
              </a:rPr>
              <a:t>Income Verification: A Component, Not a Panacea</a:t>
            </a:r>
            <a:endParaRPr lang="en-US" sz="2400">
              <a:latin typeface="Roboto Slab SemiBold"/>
              <a:ea typeface="Roboto Slab SemiBold"/>
              <a:cs typeface="Roboto Slab Semi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2938" y="1474403"/>
            <a:ext cx="3786188" cy="9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Verification Effectiveness: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While income verification contributes to risk assessment, it does not eliminate default risk. Verified borrowers recorded a higher default rate.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2938" y="2460241"/>
            <a:ext cx="37861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Holistic Assessment: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Loan performance is influenced by a complex interplay of borrower and loan characteristics, requiring a multi-faceted evaluation.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2938" y="3703253"/>
            <a:ext cx="378618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Insight: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Accurate risk prediction necessitates moving beyond single-factor verification to a comprehensive credit analysis framework.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20623" y="4760528"/>
            <a:ext cx="398900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2EBFC64-A593-CC2E-5D84-BC5D6EBF5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429"/>
            <a:ext cx="9144000" cy="5656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8F48D1-E2FE-1BDA-F5D0-2273D7FF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97" y="132735"/>
            <a:ext cx="7484805" cy="44023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5A4994-BBAD-0753-1AEC-065A177A67F2}"/>
              </a:ext>
            </a:extLst>
          </p:cNvPr>
          <p:cNvSpPr txBox="1"/>
          <p:nvPr/>
        </p:nvSpPr>
        <p:spPr>
          <a:xfrm>
            <a:off x="2050026" y="4675915"/>
            <a:ext cx="4630994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Fig 5: Showing Analysis for verification status and a high-risk borrower profile.</a:t>
            </a:r>
          </a:p>
        </p:txBody>
      </p:sp>
    </p:spTree>
    <p:extLst>
      <p:ext uri="{BB962C8B-B14F-4D97-AF65-F5344CB8AC3E}">
        <p14:creationId xmlns:p14="http://schemas.microsoft.com/office/powerpoint/2010/main" val="756722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931"/>
            <a:ext cx="9146008" cy="85903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87524"/>
            <a:ext cx="795836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Power BI Dashboard Overview: Interactive Insights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64344" y="1153716"/>
            <a:ext cx="325040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Page 1: Executive Overview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64344" y="1350169"/>
            <a:ext cx="32504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High-level summary of portfolio performance using KPIs and loan status distribution.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4344" y="1848780"/>
            <a:ext cx="325040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Page 2: Customer Risk Analysis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4344" y="2045233"/>
            <a:ext cx="3250406" cy="28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Examines borrower characteristics (income, DTI, employment, home ownership, and verification) influencing default rates.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64344" y="2543845"/>
            <a:ext cx="325040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Page 3: Loan Risk Analysis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64344" y="2740298"/>
            <a:ext cx="3250406" cy="28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Analyzes relationship between loan attributes (grade, interest rate, amount, DTI, purpose and term) and default risk.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4344" y="3238909"/>
            <a:ext cx="325040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Page 4: Geographic Credit Risk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4344" y="3435362"/>
            <a:ext cx="32504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Identifies high-risk states and compares regional lending performance metrics.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64344" y="3933974"/>
            <a:ext cx="3250406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Page 5: Income Verification Analysis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4344" y="4130427"/>
            <a:ext cx="325040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Evaluates the effectiveness of income verification in reducing loan default rates.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930"/>
            <a:ext cx="9145675" cy="8590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598289" y="-15002"/>
            <a:ext cx="8458088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Strategic Recommendations Based on insights: Strengthening Lending Practices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85750" y="1153716"/>
            <a:ext cx="4179094" cy="118703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07219" y="1296591"/>
            <a:ext cx="194438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Enhanced Credit Assessment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8625" y="1550194"/>
            <a:ext cx="3893344" cy="48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Implement more robust credit assessment and additional risk evaluation for borrowers with characteristics associated with higher default tendencies.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79156" y="1153716"/>
            <a:ext cx="4179094" cy="118703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000625" y="1296591"/>
            <a:ext cx="19818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Targeted Product Monitoring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22031" y="1550194"/>
            <a:ext cx="38933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Increase scrutiny and monitoring frequency for high-risk loan products and emerging lending patterns.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5750" y="2555063"/>
            <a:ext cx="4179094" cy="118703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07219" y="2697938"/>
            <a:ext cx="197312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Encourage Repayment Terms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8625" y="2951541"/>
            <a:ext cx="38933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Encourage and structure appropriate, sustainable repayment terms to align with borrower cash flow capacity.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679156" y="2555063"/>
            <a:ext cx="4179094" cy="118703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000625" y="2697938"/>
            <a:ext cx="210400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Proactive Geographic Tracking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22031" y="2951541"/>
            <a:ext cx="38933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Improve continuous monitoring of geographic credit risk to identify regional economic shifts early.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85750" y="3956410"/>
            <a:ext cx="4179094" cy="118709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98289" y="4071760"/>
            <a:ext cx="146251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Capacity </a:t>
            </a:r>
            <a:r>
              <a:rPr lang="en-US" sz="1100" b="1" dirty="0" err="1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Assesment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28625" y="4450747"/>
            <a:ext cx="38933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Continuously strengthen internal assessments of borrower affordability and long-term repayment capacity.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79156" y="3956410"/>
            <a:ext cx="4179094" cy="118709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000625" y="4099285"/>
            <a:ext cx="125317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BI-Driven Insights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22031" y="4352888"/>
            <a:ext cx="3893344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Leverage business intelligence dashboards for real-time portfolio monitoring and data-driven decision making.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2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720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568635" y="169975"/>
            <a:ext cx="7167339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Limitations of the Analysis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1531" y="1380139"/>
            <a:ext cx="77509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Temporal Scope: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The analysis is restricted to the 2021 financial year dataset, which may not reflect long-term cyclical trends.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1531" y="2108802"/>
            <a:ext cx="77509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Volume Variance: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Certain states recorded high default rates despite low loan volumes, potentially leading to statistical outliers.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1531" y="2837464"/>
            <a:ext cx="7750969" cy="44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Macroeconomic Exclusion: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External factors such as inflation, unemployment rates, and policy changes were not integrated into the dataset.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1531" y="3566127"/>
            <a:ext cx="77509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Data Granularity: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Critical variables, including borrower credit scores and comprehensive credit histories, were unavailable in the source data.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1531" y="4294789"/>
            <a:ext cx="775096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Analytical Depth:</a:t>
            </a:r>
            <a:r>
              <a:rPr lang="en-US" sz="12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The study focused on descriptive and diagnostic analytics; predictive modeling was outside the current project scope.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4577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214313"/>
            <a:ext cx="8858250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8FAFC"/>
                </a:solidFill>
                <a:latin typeface="Calibri"/>
                <a:ea typeface="Calibri"/>
                <a:cs typeface="Calibri"/>
              </a:rPr>
              <a:t>Future Work: Expanding Analytical Capabilities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474403"/>
            <a:ext cx="3929063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Data &amp; Scope Expansion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2938" y="1949462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Multi-Year Analysis:</a:t>
            </a:r>
            <a:r>
              <a:rPr lang="en-US" sz="11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Expand the dataset to cover multiple years for robust long-term trend identification.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2938" y="2835287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Enriched Variables:</a:t>
            </a:r>
            <a:r>
              <a:rPr lang="en-US" sz="11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Incorporate borrower credit scores and comprehensive credit history for deeper risk profiling.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2938" y="3721112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Macroeconomic Integration:</a:t>
            </a:r>
            <a:r>
              <a:rPr lang="en-US" sz="11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Integrate external indicators like inflation and unemployment rates into the risk model.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86313" y="1474403"/>
            <a:ext cx="3929063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Advanced Analytics &amp; Automation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00625" y="1949462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Predictive Modeling:</a:t>
            </a:r>
            <a:r>
              <a:rPr lang="en-US" sz="11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Develop machine learning models to proactively predict loan default probabilities.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00625" y="2835287"/>
            <a:ext cx="371475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Real-Time Monitoring:</a:t>
            </a:r>
            <a:r>
              <a:rPr lang="en-US" sz="11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Build automated dashboards for continuous, real-time portfolio management.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00625" y="3485369"/>
            <a:ext cx="3714750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Economic Cycle Resilience:</a:t>
            </a:r>
            <a:r>
              <a:rPr lang="en-US" sz="115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 Compare performance across economic cycles to identify long-term portfolio stability.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7859"/>
            <a:ext cx="9140819" cy="86796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1"/>
          <p:cNvSpPr/>
          <p:nvPr/>
        </p:nvSpPr>
        <p:spPr>
          <a:xfrm>
            <a:off x="3981794" y="437555"/>
            <a:ext cx="64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3224454" y="2109583"/>
            <a:ext cx="2695091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0F172A"/>
                </a:solidFill>
                <a:latin typeface="Roboto Slab SemiBold" pitchFamily="34" charset="0"/>
                <a:ea typeface="Roboto Slab SemiBold" pitchFamily="34" charset="-122"/>
                <a:cs typeface="Roboto Slab SemiBold" pitchFamily="34" charset="-120"/>
              </a:rPr>
              <a:t>Thank You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1714500" y="3618699"/>
            <a:ext cx="5715000" cy="86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Open Sans Light" pitchFamily="34" charset="0"/>
                <a:ea typeface="Open Sans Light" pitchFamily="34" charset="-122"/>
                <a:cs typeface="Open Sans Light" pitchFamily="34" charset="-120"/>
              </a:rPr>
              <a:t>We appreciate your time and attention. We are now open for any questions or further discussion regarding the Loan Portfolio and credit risk Analysis.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3220</TotalTime>
  <Words>1570</Words>
  <Application>Microsoft Office PowerPoint</Application>
  <PresentationFormat>On-screen Show (16:9)</PresentationFormat>
  <Paragraphs>170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Open Sans</vt:lpstr>
      <vt:lpstr>Open Sans Light</vt:lpstr>
      <vt:lpstr>Open Sans SemiBold</vt:lpstr>
      <vt:lpstr>Roboto Slab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Grace Olunumelu</cp:lastModifiedBy>
  <cp:revision>311</cp:revision>
  <dcterms:created xsi:type="dcterms:W3CDTF">2026-07-29T16:27:12Z</dcterms:created>
  <dcterms:modified xsi:type="dcterms:W3CDTF">2026-09-09T18:36:36Z</dcterms:modified>
</cp:coreProperties>
</file>